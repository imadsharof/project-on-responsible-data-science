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57" r:id="rId5"/>
    <p:sldId id="262" r:id="rId6"/>
    <p:sldId id="263" r:id="rId7"/>
    <p:sldId id="264" r:id="rId8"/>
    <p:sldId id="265" r:id="rId9"/>
    <p:sldId id="266" r:id="rId10"/>
    <p:sldId id="267" r:id="rId11"/>
    <p:sldId id="258" r:id="rId12"/>
    <p:sldId id="259" r:id="rId13"/>
    <p:sldId id="268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7" autoAdjust="0"/>
    <p:restoredTop sz="94630"/>
  </p:normalViewPr>
  <p:slideViewPr>
    <p:cSldViewPr snapToGrid="0">
      <p:cViewPr varScale="1">
        <p:scale>
          <a:sx n="87" d="100"/>
          <a:sy n="87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50D8-189C-E15E-CDA4-ACA7DFFF0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5D27A-9DEB-7DD7-0E02-96CC471E2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5AE53-6276-1CCE-8E46-FF07C142A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57D13-B9BF-49CD-E3DD-7546CBDF4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156B4-FA42-B376-E85A-11FD9F63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543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B4CF4-3891-8752-931B-2B3B0F89D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3759-883E-029D-E41F-92DFDFD01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8B222-2458-BBFA-4438-80F13030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7014A-D4BF-A065-EF00-5CAA1300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9890A-7693-90AD-F955-5ED1D861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883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0DE3-17A4-2936-8B7A-EDDE6E32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349AD-BF57-A335-1F4A-D8473AC47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09CCE-CFE1-1B37-E2EC-BBBA4403C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A53E4-73F6-BC0A-E65A-0D565F932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F7849-82FB-AEB8-BCA3-31D29312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34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42F97-9F91-EC06-A5AC-3F1741C4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C0C7D-9FFB-F2E9-FC27-6CB45B5A3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CB7D4-547F-4F12-FF4D-5EEC5865E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A2EA3-1E40-98F7-5C7E-42132C3A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67412-8364-8D07-C55E-0751193A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5BA2F-94EF-C48C-9266-78E243D73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97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A33F-A6E1-6348-935B-B1AB4BA8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953CA-F764-3E56-7656-5DD32E271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C4014-8EE0-608A-22AF-5C7DBB9AC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19933C-B1FA-F0D9-55E6-14CC6ED5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B18B0E-F581-F5FD-CF36-6AD802975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0180B2-2F33-2FE2-A581-907A33666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77615-BD7E-C3C2-FD36-268DCDC0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9DB259-FC8B-4A71-6BD8-1327F7407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156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5600-7CFD-B7D1-5709-0D5EBDAA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04C0B-0C4C-A5CC-2297-E1C52F89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C6803F-570A-0E69-4F10-AB0DA53FB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339F8-62D6-1AA1-47BA-869A78C60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751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8D795-D169-4421-6B92-B563D2F3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97BB2-04B8-5859-2117-36739EA6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26E38-2BBD-5FCE-DB8D-839E2288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974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1CF2A-FF26-324D-0A5B-D327B2B4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DA26A-FED9-B110-D1FA-EC84FC1FB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0A616-BFF0-A066-7C69-65F634965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12ABB-0270-7782-2880-12839201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F94BB-DDA3-951D-439B-2648478A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7685E-304B-17FE-179A-086AD20D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714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2866-8CBF-8F9F-38F7-6FC0A445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E382C-832E-DC80-021B-4627E64DC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D7EC1-8020-867E-0180-53A3289DE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D5DEE-24BA-4DD4-586E-A583D6E11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D3EAF-E875-8301-0544-C0FC3E2FF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CB125-B2A6-1473-3B4E-0A3BA1E9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966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3CA9-4B3F-1BA5-51BF-15A8A1610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54D99C-69F3-76C6-7D69-63DDFA240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416B1-1CCC-0C6F-8830-8E247C55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A9A84-E4A2-D0DA-9DF2-08B63DEC8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1D402-97EC-EF07-E476-7AAF23D9C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367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1962B3-0976-2855-825A-975525F1C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DC7AC8-0D08-1C04-DD25-05A303F9F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5E8B8-46F5-62E9-50ED-20A3BCDA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8A14A-FAB6-B686-C1BD-47B12457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67908-820A-A52B-A2CA-8323C6BED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6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183609-66E8-C78A-7B56-D510782C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EABAB-AF86-36F5-5027-8F96DCFAF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811F8-DDC6-F287-B8C3-BCB073BA8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498D3-2930-47C8-A8BB-16C57F93665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75419-C9A5-DE88-62B7-4AC4FB832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6E95D-57C6-3BD3-C2FB-E3A7CEFE5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A691B2-FAB2-4C00-953E-774251415D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147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3" name="Arc 103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A blue square with white letters&#10;&#10;AI-generated content may be incorrect.">
            <a:extLst>
              <a:ext uri="{FF2B5EF4-FFF2-40B4-BE49-F238E27FC236}">
                <a16:creationId xmlns:a16="http://schemas.microsoft.com/office/drawing/2014/main" id="{77626A32-ED4B-20A9-A93C-97728AA85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464FE-0654-790D-3380-6FB1EF02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Management of Data Science and Business Workflows</a:t>
            </a:r>
          </a:p>
          <a:p>
            <a:pPr marL="0" indent="0">
              <a:buNone/>
            </a:pPr>
            <a:r>
              <a:rPr lang="en-US" b="1" dirty="0"/>
              <a:t>Project on Responsible Data Science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Noor ul Hassan </a:t>
            </a:r>
            <a:br>
              <a:rPr lang="en-US" dirty="0"/>
            </a:br>
            <a:r>
              <a:rPr lang="en-US" dirty="0"/>
              <a:t>Kashif Nawaz</a:t>
            </a:r>
            <a:br>
              <a:rPr lang="en-US" dirty="0"/>
            </a:br>
            <a:r>
              <a:rPr lang="en-US" dirty="0"/>
              <a:t>Imad </a:t>
            </a:r>
            <a:r>
              <a:rPr lang="en-US" dirty="0" err="1"/>
              <a:t>Sharof</a:t>
            </a:r>
            <a:br>
              <a:rPr lang="en-US" dirty="0"/>
            </a:br>
            <a:r>
              <a:rPr lang="en-US" dirty="0"/>
              <a:t>Aakash Karki</a:t>
            </a:r>
            <a:br>
              <a:rPr lang="en-US" dirty="0"/>
            </a:br>
            <a:r>
              <a:rPr lang="en-US" dirty="0"/>
              <a:t>Hatim </a:t>
            </a:r>
            <a:r>
              <a:rPr lang="en-US" dirty="0" err="1"/>
              <a:t>Draoui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73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0F9EA-4A9B-6585-FFF8-39C9C2739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 dirty="0"/>
              <a:t>Goal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1143E79C-5864-0F77-7D5A-63CAC3206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98A2C-AC38-49D9-5182-2E4D85107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Understand and evaluate how responsible data science principles affect an ML model predicting “&gt;50K” income on the Adult dataset.</a:t>
            </a:r>
          </a:p>
          <a:p>
            <a:r>
              <a:rPr lang="en-US" dirty="0"/>
              <a:t>Several responsible data science aspects of the ML pipeline have been investigated during this project.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6063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CDBC-D6B8-5B56-11E9-DBA6E1027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3795"/>
            <a:ext cx="9144000" cy="1264980"/>
          </a:xfrm>
        </p:spPr>
        <p:txBody>
          <a:bodyPr>
            <a:noAutofit/>
          </a:bodyPr>
          <a:lstStyle/>
          <a:p>
            <a:pPr algn="l"/>
            <a:r>
              <a:rPr lang="en-GB" sz="4400" b="1" dirty="0"/>
              <a:t>Classification </a:t>
            </a:r>
            <a:br>
              <a:rPr lang="en-GB" sz="4400" b="1" dirty="0"/>
            </a:br>
            <a:endParaRPr lang="en-GB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50235-EB39-427F-C6EA-39F3DE825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68361"/>
            <a:ext cx="9144000" cy="468952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GB" sz="2800" dirty="0"/>
              <a:t>The methodology was structured around four pivotal steps: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Data Pre-processing: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sz="2200" b="1" dirty="0"/>
              <a:t>Imputation Strategy </a:t>
            </a:r>
            <a:endParaRPr lang="en-GB" sz="2200" dirty="0"/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sz="2200" b="1" dirty="0"/>
              <a:t>Age Binarization</a:t>
            </a:r>
            <a:endParaRPr lang="en-GB" sz="2600" dirty="0"/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sz="2200" b="1" dirty="0"/>
              <a:t>Label Encoding</a:t>
            </a:r>
            <a:endParaRPr lang="en-GB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Partitioning: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sz="2200" dirty="0"/>
              <a:t>Training set: 60%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sz="2200" dirty="0"/>
              <a:t>Validation set: 20%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sz="2200" dirty="0"/>
              <a:t>Test set: 20%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Model Selection: </a:t>
            </a:r>
            <a:r>
              <a:rPr lang="en-GB" b="1" dirty="0" err="1"/>
              <a:t>XGBoost</a:t>
            </a:r>
            <a:r>
              <a:rPr lang="en-GB" b="1" dirty="0"/>
              <a:t> </a:t>
            </a:r>
            <a:r>
              <a:rPr lang="en-GB" dirty="0"/>
              <a:t>(</a:t>
            </a:r>
            <a:r>
              <a:rPr lang="en-GB" dirty="0" err="1"/>
              <a:t>eXtreme</a:t>
            </a:r>
            <a:r>
              <a:rPr lang="en-GB" dirty="0"/>
              <a:t> Gradient Boosting) classifier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Performance Evaluation: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sz="1900" b="1" dirty="0"/>
              <a:t>Accuracy :</a:t>
            </a:r>
            <a:r>
              <a:rPr lang="en-GB" sz="1900" dirty="0"/>
              <a:t> Global Accuracy of 87.81%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sz="1900" b="1" dirty="0"/>
              <a:t>Confusion Matrix Analysis </a:t>
            </a:r>
            <a:endParaRPr lang="en-GB" sz="1900" dirty="0"/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sz="1900" b="1" dirty="0"/>
              <a:t>Class Imbalance</a:t>
            </a:r>
            <a:endParaRPr lang="en-GB" sz="1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13161-DDA7-6ECF-BEA4-99C14F2A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073" y="1734035"/>
            <a:ext cx="3049843" cy="2059296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3F9CEBAD-35AB-C8D0-49A2-D342B504D08D}"/>
              </a:ext>
            </a:extLst>
          </p:cNvPr>
          <p:cNvSpPr/>
          <p:nvPr/>
        </p:nvSpPr>
        <p:spPr>
          <a:xfrm>
            <a:off x="5330928" y="2533341"/>
            <a:ext cx="1209368" cy="4940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E35D19-8A00-F1F5-1567-73692DD1D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744" y="5018139"/>
            <a:ext cx="1714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4070E-90B9-0D5E-A2E1-97B75C95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Fairness Analysis</a:t>
            </a:r>
            <a:r>
              <a:rPr lang="en-GB" dirty="0"/>
              <a:t> 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95850-50B9-D817-E7FC-D2D972B64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968" y="1371600"/>
            <a:ext cx="10515600" cy="5121275"/>
          </a:xfrm>
        </p:spPr>
        <p:txBody>
          <a:bodyPr>
            <a:normAutofit fontScale="70000" lnSpcReduction="20000"/>
          </a:bodyPr>
          <a:lstStyle/>
          <a:p>
            <a:r>
              <a:rPr lang="en-GB" sz="3300" dirty="0"/>
              <a:t>The objective of this stage was to rigorously evaluate and mitigate algorithmic bias within our classification model.</a:t>
            </a:r>
          </a:p>
          <a:p>
            <a:r>
              <a:rPr lang="en-GB" sz="3300" dirty="0"/>
              <a:t>AIF360 library, focusing on two protected attributes : Age and Sex.</a:t>
            </a:r>
          </a:p>
          <a:p>
            <a:r>
              <a:rPr lang="en-GB" sz="3400" b="1" dirty="0"/>
              <a:t>Metric Selection and Baseline Evaluation:</a:t>
            </a:r>
          </a:p>
          <a:p>
            <a:pPr lvl="4"/>
            <a:r>
              <a:rPr lang="en-GB" sz="3300" dirty="0"/>
              <a:t>Selected the Statistical Parity Difference (SPD)</a:t>
            </a:r>
          </a:p>
          <a:p>
            <a:pPr marL="1828800" lvl="4" indent="0">
              <a:buNone/>
            </a:pPr>
            <a:r>
              <a:rPr lang="en-GB" sz="3300" dirty="0"/>
              <a:t>	SPD= P(Y=1| Unprivileged – P(Y=1|Privileged)</a:t>
            </a:r>
          </a:p>
          <a:p>
            <a:pPr lvl="4"/>
            <a:r>
              <a:rPr lang="en-GB" sz="3300" dirty="0"/>
              <a:t> A perfect model has 0 SPD but our model ha value -0.1885.</a:t>
            </a:r>
          </a:p>
          <a:p>
            <a:r>
              <a:rPr lang="en-GB" sz="3400" b="1" dirty="0"/>
              <a:t>Bias Mitigation Strategy : </a:t>
            </a:r>
          </a:p>
          <a:p>
            <a:pPr lvl="4"/>
            <a:r>
              <a:rPr lang="en-GB" sz="3300" dirty="0"/>
              <a:t>Implemented pre-processing reweighing</a:t>
            </a:r>
          </a:p>
          <a:p>
            <a:r>
              <a:rPr lang="en-GB" sz="3400" b="1" dirty="0"/>
              <a:t>Post-Mitigation Performance and Trade-off</a:t>
            </a:r>
            <a:r>
              <a:rPr lang="en-GB" sz="3400" dirty="0"/>
              <a:t> :</a:t>
            </a:r>
          </a:p>
          <a:p>
            <a:pPr lvl="4"/>
            <a:r>
              <a:rPr lang="en-GB" sz="3300" dirty="0"/>
              <a:t>It improves the SPD from -0.1885 to 0.0927.</a:t>
            </a:r>
          </a:p>
          <a:p>
            <a:pPr lvl="4"/>
            <a:r>
              <a:rPr lang="en-GB" sz="3300" dirty="0"/>
              <a:t>The classification accuracy decreased marginally from 87.81% (Original) to </a:t>
            </a:r>
            <a:r>
              <a:rPr lang="en-GB" sz="3300" b="1" dirty="0"/>
              <a:t>86.84% </a:t>
            </a:r>
            <a:r>
              <a:rPr lang="en-GB" sz="3300" dirty="0"/>
              <a:t>(Fair) </a:t>
            </a:r>
            <a:br>
              <a:rPr lang="en-GB" sz="4000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35324-3A25-7484-A68F-803CB90F0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768" y="5486400"/>
            <a:ext cx="48768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1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FC4818-68CF-51C2-158E-016CADF6F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>
                <a:ea typeface="+mj-lt"/>
                <a:cs typeface="+mj-lt"/>
              </a:rPr>
              <a:t>Local Differential Privacy (LDP)</a:t>
            </a:r>
            <a:endParaRPr lang="en-US" b="1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EE90-27CA-8C15-2CFD-B03182C05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/>
              <a:t>Objective </a:t>
            </a:r>
            <a:r>
              <a:rPr lang="en-GB" dirty="0"/>
              <a:t>: Protect sensitive data before data collection</a:t>
            </a:r>
          </a:p>
          <a:p>
            <a:r>
              <a:rPr lang="en-GB" b="1" dirty="0"/>
              <a:t>Problem </a:t>
            </a:r>
            <a:r>
              <a:rPr lang="en-GB" dirty="0"/>
              <a:t>: </a:t>
            </a:r>
            <a:r>
              <a:rPr lang="en-GB" dirty="0">
                <a:ea typeface="+mn-lt"/>
                <a:cs typeface="+mn-lt"/>
              </a:rPr>
              <a:t>Standard anonymization isn't enough; unique combinations can re-identify users.</a:t>
            </a:r>
          </a:p>
          <a:p>
            <a:r>
              <a:rPr lang="en-GB" b="1" dirty="0"/>
              <a:t>Solution : </a:t>
            </a:r>
            <a:r>
              <a:rPr lang="en-GB" b="1" i="1" dirty="0"/>
              <a:t>Local Differential Privacy (LDP)</a:t>
            </a:r>
          </a:p>
          <a:p>
            <a:pPr lvl="1"/>
            <a:r>
              <a:rPr lang="en-GB" dirty="0">
                <a:ea typeface="+mn-lt"/>
                <a:cs typeface="+mn-lt"/>
              </a:rPr>
              <a:t>Noise is added locally on the user's device</a:t>
            </a:r>
          </a:p>
          <a:p>
            <a:pPr lvl="1"/>
            <a:r>
              <a:rPr lang="en-GB" dirty="0">
                <a:ea typeface="+mn-lt"/>
                <a:cs typeface="+mn-lt"/>
              </a:rPr>
              <a:t>The database curator never sees the raw truth</a:t>
            </a:r>
          </a:p>
          <a:p>
            <a:pPr lvl="1"/>
            <a:r>
              <a:rPr lang="en-GB" dirty="0">
                <a:ea typeface="+mn-lt"/>
                <a:cs typeface="+mn-lt"/>
              </a:rPr>
              <a:t>Provides "Plausible Deniability" to every individual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2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B962-9E73-C62B-EC20-7A0C4842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Randomized Response (Coin flip method)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29E70-AA38-378C-9742-5B2DB647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Parameters </a:t>
            </a:r>
            <a:r>
              <a:rPr lang="en-GB" dirty="0"/>
              <a:t>: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	Truth probability : </a:t>
            </a:r>
            <a:r>
              <a:rPr lang="en-GB" i="1" dirty="0"/>
              <a:t>75%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	Noise probability</a:t>
            </a:r>
            <a:r>
              <a:rPr lang="en-GB" i="1" dirty="0"/>
              <a:t> : 25%</a:t>
            </a:r>
            <a:endParaRPr lang="en-US" dirty="0"/>
          </a:p>
          <a:p>
            <a:r>
              <a:rPr lang="en-GB" b="1" dirty="0"/>
              <a:t>Privacy Budget (ϵ)</a:t>
            </a:r>
            <a:r>
              <a:rPr lang="en-GB" dirty="0"/>
              <a:t> :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	Resulting epsilon ϵ ≈ 1.1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	Represents a strong balance between privacy protection and data utility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8A6A1-A2BC-1D66-963F-FFC5B1C64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139" y="3366294"/>
            <a:ext cx="2514600" cy="6350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22464608-476D-3EAE-0060-53D9393AD882}"/>
              </a:ext>
            </a:extLst>
          </p:cNvPr>
          <p:cNvSpPr/>
          <p:nvPr/>
        </p:nvSpPr>
        <p:spPr>
          <a:xfrm>
            <a:off x="5707626" y="3366294"/>
            <a:ext cx="1401097" cy="5014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7303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C704B-F62E-6673-67BE-B6E0D0DBF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/>
              <a:t>Data Utility: The Cost of Privacy</a:t>
            </a:r>
            <a:endParaRPr lang="en-US" b="1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F70DD-7757-8114-9355-C3689ED2B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/>
              <a:t>Measuring Distortion</a:t>
            </a:r>
            <a:r>
              <a:rPr lang="en-GB" dirty="0"/>
              <a:t> :  Comparing Real Data vs Noisy Data</a:t>
            </a:r>
            <a:endParaRPr lang="en-US" dirty="0"/>
          </a:p>
          <a:p>
            <a:r>
              <a:rPr lang="en-GB" b="1" dirty="0"/>
              <a:t>Statistical Error</a:t>
            </a:r>
            <a:r>
              <a:rPr lang="en-GB" dirty="0"/>
              <a:t>: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	Mean Absolute Error (MAE) : </a:t>
            </a:r>
            <a:r>
              <a:rPr lang="en-GB" i="1" dirty="0"/>
              <a:t>~ 1,420 records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	Relative Error : </a:t>
            </a:r>
            <a:r>
              <a:rPr lang="en-GB" i="1" dirty="0"/>
              <a:t>~ 4.36%</a:t>
            </a:r>
            <a:endParaRPr lang="en-US" dirty="0"/>
          </a:p>
          <a:p>
            <a:r>
              <a:rPr lang="en-GB" b="1" dirty="0"/>
              <a:t>Observation </a:t>
            </a:r>
            <a:r>
              <a:rPr lang="en-GB" dirty="0"/>
              <a:t>: While individual records are unreliable, the </a:t>
            </a:r>
            <a:r>
              <a:rPr lang="en-GB" i="1" dirty="0"/>
              <a:t>aggregate distribution</a:t>
            </a:r>
            <a:r>
              <a:rPr lang="en-GB" dirty="0"/>
              <a:t> remains largely intact.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81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62E9-E36A-731E-BFF7-BC4C183E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Model Robustness and Conclusion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E8B0-181E-290A-5642-EA2170E75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rtl="0">
              <a:buSzPts val="2800"/>
              <a:buFont typeface="Arial" panose="020B0604020202020204" pitchFamily="34" charset="0"/>
              <a:buChar char="•"/>
            </a:pPr>
            <a:r>
              <a:rPr lang="en-GB" sz="3200" b="1" i="0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Impact on AI model</a:t>
            </a:r>
            <a:r>
              <a:rPr lang="en-GB" sz="3200" b="0" i="0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 :</a:t>
            </a:r>
          </a:p>
          <a:p>
            <a:pPr rtl="0">
              <a:buSzPts val="2400"/>
              <a:buFont typeface="Arial" panose="020B0604020202020204" pitchFamily="34" charset="0"/>
              <a:buChar char="•"/>
            </a:pPr>
            <a:r>
              <a:rPr lang="en-GB" sz="2800" b="0" i="0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Original Accuracy : </a:t>
            </a:r>
            <a:r>
              <a:rPr lang="en-GB" sz="2800" b="0" i="1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87.81%</a:t>
            </a:r>
          </a:p>
          <a:p>
            <a:pPr rtl="0">
              <a:buSzPts val="2400"/>
              <a:buFont typeface="Arial" panose="020B0604020202020204" pitchFamily="34" charset="0"/>
              <a:buChar char="•"/>
            </a:pPr>
            <a:r>
              <a:rPr lang="en-GB" sz="2800" b="0" i="0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Private Accuracy : </a:t>
            </a:r>
            <a:r>
              <a:rPr lang="en-GB" sz="2800" b="0" i="1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87.30%</a:t>
            </a:r>
          </a:p>
          <a:p>
            <a:pPr rtl="0">
              <a:buSzPts val="2400"/>
              <a:buFont typeface="Arial" panose="020B0604020202020204" pitchFamily="34" charset="0"/>
              <a:buChar char="•"/>
            </a:pPr>
            <a:r>
              <a:rPr lang="en-GB" sz="2800" b="0" i="0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Performance Drop : </a:t>
            </a:r>
            <a:r>
              <a:rPr lang="en-GB" sz="2800" b="0" i="1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&lt; 0.6%</a:t>
            </a:r>
          </a:p>
          <a:p>
            <a:pPr rtl="0">
              <a:buSzPts val="2800"/>
              <a:buFont typeface="Arial" panose="020B0604020202020204" pitchFamily="34" charset="0"/>
              <a:buChar char="•"/>
            </a:pPr>
            <a:r>
              <a:rPr lang="en-GB" sz="3200" b="1" i="0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Key Takeaway</a:t>
            </a:r>
            <a:r>
              <a:rPr lang="en-GB" sz="3200" b="0" i="0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 :</a:t>
            </a:r>
          </a:p>
          <a:p>
            <a:pPr rtl="0">
              <a:buSzPts val="2400"/>
              <a:buFont typeface="Arial" panose="020B0604020202020204" pitchFamily="34" charset="0"/>
              <a:buChar char="•"/>
            </a:pPr>
            <a:r>
              <a:rPr lang="en-US" sz="2800" b="0" i="0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The model is highly robust</a:t>
            </a:r>
          </a:p>
          <a:p>
            <a:pPr rtl="0">
              <a:buSzPts val="2400"/>
              <a:buFont typeface="Arial" panose="020B0604020202020204" pitchFamily="34" charset="0"/>
              <a:buChar char="•"/>
            </a:pPr>
            <a:r>
              <a:rPr lang="en-US" sz="2800" b="0" i="0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Even with ~25% noise on sensitive features the classifier effectively predicts income using other signals.</a:t>
            </a:r>
          </a:p>
          <a:p>
            <a:pPr rtl="0">
              <a:buSzPts val="2400"/>
              <a:buFont typeface="Arial" panose="020B0604020202020204" pitchFamily="34" charset="0"/>
              <a:buChar char="•"/>
            </a:pPr>
            <a:r>
              <a:rPr lang="en-US" sz="2800" b="0" i="0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Conclusion :</a:t>
            </a:r>
            <a:r>
              <a:rPr lang="en-US" sz="2800" b="0" i="1" u="none" strike="noStrike" kern="1200" baseline="0">
                <a:solidFill>
                  <a:srgbClr val="000000"/>
                </a:solidFill>
                <a:latin typeface="Aptos" panose="020B0004020202020204" pitchFamily="34" charset="0"/>
              </a:rPr>
              <a:t> We successfully achieved privacy without destroying business value</a:t>
            </a:r>
          </a:p>
          <a:p>
            <a:endParaRPr lang="en-US" dirty="0"/>
          </a:p>
        </p:txBody>
      </p:sp>
      <p:sp>
        <p:nvSpPr>
          <p:cNvPr id="4" name="U-turn Arrow 3">
            <a:extLst>
              <a:ext uri="{FF2B5EF4-FFF2-40B4-BE49-F238E27FC236}">
                <a16:creationId xmlns:a16="http://schemas.microsoft.com/office/drawing/2014/main" id="{FFED3C95-C534-3132-331A-610A928F2699}"/>
              </a:ext>
            </a:extLst>
          </p:cNvPr>
          <p:cNvSpPr/>
          <p:nvPr/>
        </p:nvSpPr>
        <p:spPr>
          <a:xfrm rot="5400000">
            <a:off x="5029200" y="2632754"/>
            <a:ext cx="1858297" cy="1106129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434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A150B-234F-591E-8AD3-A8B75248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Explainability of the Private Classifier</a:t>
            </a:r>
            <a:br>
              <a:rPr lang="en-US" b="1" dirty="0"/>
            </a:br>
            <a:endParaRPr lang="en-US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E35A4-5A20-C78B-8BAD-D93A0B785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Understand why the private classifier makes wrong but highly confident predictions</a:t>
            </a:r>
          </a:p>
          <a:p>
            <a:r>
              <a:rPr lang="en-US" dirty="0" err="1"/>
              <a:t>Analyse</a:t>
            </a:r>
            <a:r>
              <a:rPr lang="en-US" dirty="0"/>
              <a:t> the role of noisy Age and Sex (protected with Local DP)</a:t>
            </a:r>
          </a:p>
          <a:p>
            <a:r>
              <a:rPr lang="en-US" dirty="0"/>
              <a:t>Use explainability tools to diagnose model </a:t>
            </a:r>
            <a:r>
              <a:rPr lang="en-US" dirty="0" err="1"/>
              <a:t>behaviour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327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F88AF-3C33-1C32-2B79-0543293F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 contributing features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FDA02-F7B2-3444-8745-996DD9856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0" fontAlgn="base" hangingPunct="0">
              <a:buNone/>
            </a:pPr>
            <a:r>
              <a:rPr lang="en-US" dirty="0"/>
              <a:t>Top contributing features in errors:</a:t>
            </a:r>
          </a:p>
          <a:p>
            <a:pPr eaLnBrk="0" fontAlgn="base" hangingPunct="0"/>
            <a:r>
              <a:rPr lang="en-US" dirty="0"/>
              <a:t>capital-gain</a:t>
            </a:r>
          </a:p>
          <a:p>
            <a:pPr eaLnBrk="0" fontAlgn="base" hangingPunct="0"/>
            <a:r>
              <a:rPr lang="en-US" dirty="0"/>
              <a:t>hours-per-week</a:t>
            </a:r>
          </a:p>
          <a:p>
            <a:pPr eaLnBrk="0" fontAlgn="base" hangingPunct="0"/>
            <a:r>
              <a:rPr lang="en-US" dirty="0"/>
              <a:t>noisy Age</a:t>
            </a:r>
          </a:p>
          <a:p>
            <a:pPr eaLnBrk="0" fontAlgn="base" hangingPunct="0"/>
            <a:r>
              <a:rPr lang="en-US" dirty="0"/>
              <a:t>noisy Sex</a:t>
            </a:r>
          </a:p>
          <a:p>
            <a:pPr marL="0" indent="0" eaLnBrk="0" fontAlgn="base" hangingPunct="0">
              <a:buNone/>
            </a:pPr>
            <a:r>
              <a:rPr lang="en-US" dirty="0"/>
              <a:t>Perturbed Age often moved people into older age bins → pushes probability upward</a:t>
            </a:r>
          </a:p>
          <a:p>
            <a:pPr marL="0" indent="0">
              <a:buNone/>
            </a:pPr>
            <a:r>
              <a:rPr lang="en-US" dirty="0"/>
              <a:t>Perturbed Sex often flipped female → male → increases predicted income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AC701-2C43-E8AF-9119-2A360304D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594" y="1027906"/>
            <a:ext cx="5159174" cy="337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49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CD574-61D9-27CF-6E8B-0C81667A1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4B902-B836-CCF4-D2DF-DF8E2CDFC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Explainability and LLMs</a:t>
            </a:r>
            <a:br>
              <a:rPr lang="en-GB" b="1" dirty="0"/>
            </a:br>
            <a:endParaRPr lang="en-GB" b="1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F655-F312-D3FE-8A91-F1B777704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600" dirty="0"/>
              <a:t>Goal: The objective of this part was to automatically interpret SHAP insights and generate human-readable explanations with a local LLM. </a:t>
            </a:r>
            <a:br>
              <a:rPr lang="en-US" sz="2600" dirty="0"/>
            </a:br>
            <a:endParaRPr lang="en-US" sz="2600" dirty="0"/>
          </a:p>
          <a:p>
            <a:pPr marL="0" indent="0">
              <a:buNone/>
            </a:pPr>
            <a:r>
              <a:rPr lang="en-US" sz="2600" dirty="0"/>
              <a:t>LLM-Based SHAP Explanation System:</a:t>
            </a:r>
          </a:p>
          <a:p>
            <a:r>
              <a:rPr lang="en-US" sz="2600" dirty="0"/>
              <a:t>Automates translation of SHAP insights into human explanations</a:t>
            </a:r>
          </a:p>
          <a:p>
            <a:r>
              <a:rPr lang="en-US" sz="2600" dirty="0"/>
              <a:t>Python extracts top SHAP drivers for each prediction</a:t>
            </a:r>
          </a:p>
          <a:p>
            <a:r>
              <a:rPr lang="en-US" sz="2600" dirty="0"/>
              <a:t>Local LLM interprets feature impacts like an “AI analyst”</a:t>
            </a:r>
          </a:p>
          <a:p>
            <a:pPr marL="0" indent="0">
              <a:buNone/>
            </a:pPr>
            <a:br>
              <a:rPr lang="en-GB" sz="2600" dirty="0"/>
            </a:br>
            <a:br>
              <a:rPr lang="en-GB" sz="2600" dirty="0"/>
            </a:br>
            <a:endParaRPr lang="en-GB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08966-94E5-F51C-A812-06EFA1541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404" y="4370745"/>
            <a:ext cx="1155700" cy="10287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3B4B90C0-72FF-C5E9-6A6A-7841847E1CA0}"/>
              </a:ext>
            </a:extLst>
          </p:cNvPr>
          <p:cNvSpPr/>
          <p:nvPr/>
        </p:nvSpPr>
        <p:spPr>
          <a:xfrm>
            <a:off x="9150008" y="4885095"/>
            <a:ext cx="798098" cy="3685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21980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761D0-D4E3-C8A9-4BE3-C4FEAC910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B3EB-DA66-67D3-C7DA-2BEA13A4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Explainability and LLMs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2803B-C01D-839A-B1C9-4EA409EF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End-to-End Dynamic Explainability:</a:t>
            </a:r>
            <a:endParaRPr lang="en-US" dirty="0"/>
          </a:p>
          <a:p>
            <a:r>
              <a:rPr lang="en-US" dirty="0"/>
              <a:t>Identifies top 3 features influencing the prediction</a:t>
            </a:r>
          </a:p>
          <a:p>
            <a:r>
              <a:rPr lang="en-US" dirty="0"/>
              <a:t>Automatically detects the most impactful driver of the error</a:t>
            </a:r>
          </a:p>
          <a:p>
            <a:r>
              <a:rPr lang="en-US" dirty="0"/>
              <a:t>LLM generates clear, polite customer-facing explanations</a:t>
            </a:r>
          </a:p>
          <a:p>
            <a:r>
              <a:rPr lang="en-US" dirty="0"/>
              <a:t>Fully automated workflow: no manual analysis needed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7528EA-D9C7-C692-0363-2A393A9C5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1" y="3779603"/>
            <a:ext cx="8158162" cy="337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2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A2C0A-013F-7584-61E6-CCF41F9B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BE" b="1" dirty="0"/>
              <a:t>Free exploration : Intersectionality analysis</a:t>
            </a:r>
            <a:endParaRPr lang="en-US" b="1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E8F57-CC86-5448-7281-BCCD2581B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69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/>
              <a:t>Beyond Single Attributes : </a:t>
            </a:r>
            <a:r>
              <a:rPr lang="en-GB" dirty="0"/>
              <a:t> we moved from </a:t>
            </a:r>
            <a:r>
              <a:rPr lang="en-GB" dirty="0" err="1"/>
              <a:t>analyzing</a:t>
            </a:r>
            <a:r>
              <a:rPr lang="en-GB" dirty="0"/>
              <a:t> "Sex" or "Race" in isolation to studying </a:t>
            </a:r>
            <a:r>
              <a:rPr lang="en-GB" b="1" dirty="0"/>
              <a:t>Intersectional Subgroups</a:t>
            </a:r>
            <a:r>
              <a:rPr lang="en-GB" dirty="0"/>
              <a:t> (Race + Sex) and see what happens</a:t>
            </a:r>
            <a:endParaRPr lang="en-US" dirty="0"/>
          </a:p>
          <a:p>
            <a:r>
              <a:rPr lang="en-GB" dirty="0"/>
              <a:t>Statistical Surprise (The 1994 Data Bias):</a:t>
            </a:r>
            <a:endParaRPr lang="en-US" dirty="0"/>
          </a:p>
          <a:p>
            <a:r>
              <a:rPr lang="en-GB" b="1" dirty="0"/>
              <a:t>Asian-Pac Males</a:t>
            </a:r>
            <a:r>
              <a:rPr lang="en-GB" dirty="0"/>
              <a:t> have the highest probability of being predicted as "Rich," surpassing even White Males</a:t>
            </a:r>
            <a:endParaRPr lang="en-US" dirty="0"/>
          </a:p>
          <a:p>
            <a:r>
              <a:rPr lang="en-GB" i="1" dirty="0"/>
              <a:t>Context:</a:t>
            </a:r>
            <a:r>
              <a:rPr lang="en-GB" dirty="0"/>
              <a:t> </a:t>
            </a:r>
            <a:r>
              <a:rPr lang="en-GB" i="1" dirty="0"/>
              <a:t>This reflects the 1990s US skilled immigration policies, creating a "Model Minority" statistical effect in this specific dataset.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827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FD8D-9D04-DD07-630A-A5F597F7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FA71-E830-987B-831A-9DB1AEB85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b="1" dirty="0"/>
              <a:t>Free exploration : Intersectionality analysis</a:t>
            </a:r>
            <a:endParaRPr lang="en-US" b="1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1903CFE-A9CB-E18C-4F1E-C68C411772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764"/>
          <a:stretch>
            <a:fillRect/>
          </a:stretch>
        </p:blipFill>
        <p:spPr>
          <a:xfrm>
            <a:off x="1041145" y="1690688"/>
            <a:ext cx="9796462" cy="444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90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2FF03-D42A-3A2C-F972-AD4EB58F1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br>
              <a:rPr lang="en-US" sz="5400" dirty="0"/>
            </a:br>
            <a:br>
              <a:rPr lang="en-US" sz="5400" dirty="0"/>
            </a:br>
            <a:r>
              <a:rPr lang="en-US" sz="5400" dirty="0"/>
              <a:t>Thank you for listening !</a:t>
            </a:r>
          </a:p>
        </p:txBody>
      </p:sp>
    </p:spTree>
    <p:extLst>
      <p:ext uri="{BB962C8B-B14F-4D97-AF65-F5344CB8AC3E}">
        <p14:creationId xmlns:p14="http://schemas.microsoft.com/office/powerpoint/2010/main" val="2576282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746</Words>
  <Application>Microsoft Macintosh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Goal</vt:lpstr>
      <vt:lpstr>Classification  </vt:lpstr>
      <vt:lpstr>Fairness Analysis  </vt:lpstr>
      <vt:lpstr>Local Differential Privacy (LDP)</vt:lpstr>
      <vt:lpstr>Randomized Response (Coin flip method)</vt:lpstr>
      <vt:lpstr>Data Utility: The Cost of Privacy</vt:lpstr>
      <vt:lpstr>Model Robustness and Conclusion</vt:lpstr>
      <vt:lpstr>Explainability of the Private Classifier </vt:lpstr>
      <vt:lpstr>Top contributing features </vt:lpstr>
      <vt:lpstr>Explainability and LLMs </vt:lpstr>
      <vt:lpstr>Explainability and LLMs </vt:lpstr>
      <vt:lpstr>Free exploration : Intersectionality analysis</vt:lpstr>
      <vt:lpstr>Free exploration : Intersectionality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NAWAZ Kashif</dc:creator>
  <cp:lastModifiedBy>SHAROF Imad</cp:lastModifiedBy>
  <cp:revision>11</cp:revision>
  <dcterms:created xsi:type="dcterms:W3CDTF">2025-12-10T20:49:50Z</dcterms:created>
  <dcterms:modified xsi:type="dcterms:W3CDTF">2025-12-11T22:02:02Z</dcterms:modified>
</cp:coreProperties>
</file>